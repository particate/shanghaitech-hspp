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CEB33-DD7A-690A-8F95-E7A759AA8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E4F202-73E9-481E-CAE9-F54C89EAA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23B8DC-92A6-0EBD-D7D8-E2D626B27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5487C1-8EE8-E834-3DFE-A89A3B62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8CC6B7-B90E-994B-9434-DDD5CBF1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6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0A572-54BB-CBF1-62FE-344D1192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5E69D-0622-F818-E334-95843D1FD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65340-DDCB-7FC5-CE15-E23F3410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B85834-CD77-5272-1443-608634E30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ED389F-B0F8-4998-A4C2-BCF4C9F7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1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4B44E-3DAF-7E09-73AF-BBF13DAF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E3198-B2E1-7FC7-AC24-17461DF2B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2631D-F2F9-E708-F539-CF100D1B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ED817B-F601-4A93-63AA-7B7EF48E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776439-80DC-7642-73AF-ED9E4A51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903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9F00B-D063-5A4D-0517-1BD5DBD7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FD3394-4671-F625-F48A-CB1853DB7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8B38F6-C781-855F-36DE-E4E26BD63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4DAF59-83FA-424D-BF63-7F3A100F9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B4E6F2-8FC3-A60D-1DE7-108DF25A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D15C97-124F-9304-049F-4234CBF7C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52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2EDC8-5E39-A845-DCD1-7CE26C1E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8AC11D-0530-81D5-8CAF-4A5C95221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60F881-2A6C-BA30-9B8F-C4ED3F840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4F7896-65B8-7B47-6741-98E10B5BC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96BB6D-CD2C-1809-3FC0-C893619DA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795C8-3628-CFA6-A178-585529F0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093AFF-50CA-9E86-D2F7-EF866BA69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B59B69-AD94-5F18-3326-092A674D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6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77074-FA16-9F04-0EC7-49DE23CA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63A861E-FC57-F48F-2ACD-38B60DED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B709E9-FDC5-B91C-294B-47F1393D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3EC93F-793E-EC4D-5CCE-6491C817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4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95235F-7062-0867-97DB-B748F05D2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076951-D357-0FBD-3EE0-F36747DC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95440-7498-CF52-9918-AFC8C9A7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4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E257F-6419-3809-FA52-8D0641CF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E3B98-0D13-8807-4F5E-D48C31BE3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C94C94-B479-8DA2-2889-49000C13E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B20FBA-93E0-1D60-B21C-E5422D2F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440D06-C72C-F2AE-0CC6-3445F259E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12D88D-41BB-597C-C48A-841ABC8EA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9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1AAEE-B173-C892-8898-BA3561265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F9828F-C74F-AF39-898A-5F6FDDA72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68552A-B53E-9820-F2E8-478D658E2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E73ED0-7985-E4DA-2AD6-826B5C52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2598A-BAB9-C988-A18A-FB6628AC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8CC896-4B86-3420-D58F-F6BE8590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72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25923-F6C1-4311-1FA8-C054AAF1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6E16B3-BC3C-F0AB-2922-26DB42E26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7B00A-A450-720F-A840-8A741165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BCC4A-543E-0D45-3079-5A529FBB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30B0E-27D6-21F2-8862-902DCA4A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18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71CCD6-66F5-5B04-81E2-F85136BBA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7B0ECC-A195-F659-CBA8-4EFE2BE3D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CCD6C-F753-2606-5E35-47525B06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3C74B-21AF-D863-EC97-6B6221B8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A80C0C-E910-CD5F-53E0-ABF56720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44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2E844D-7C08-7451-7FEF-04A80A3D9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8DB222-7745-D238-A8DC-4925D1C23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114B1A-985B-84F5-EF91-C8B67D1AB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4EBF9-23E4-4FD2-9B1F-D9F5F78D8AFE}" type="datetimeFigureOut">
              <a:rPr lang="zh-CN" altLang="en-US" smtClean="0"/>
              <a:t>2026/6/19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FA9A00-A683-E4B4-F13C-D1A25A42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E841C-8F0E-543B-3EA6-6A43CCDF5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F8E2B-278F-41DA-BD10-F04611392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99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BA216D-84C3-FC8E-1026-4D340F3EAC96}"/>
              </a:ext>
            </a:extLst>
          </p:cNvPr>
          <p:cNvSpPr txBox="1"/>
          <p:nvPr/>
        </p:nvSpPr>
        <p:spPr>
          <a:xfrm>
            <a:off x="645458" y="517711"/>
            <a:ext cx="2528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产业发展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897B73-73D6-5FAE-1FD2-C27CB95E2315}"/>
              </a:ext>
            </a:extLst>
          </p:cNvPr>
          <p:cNvSpPr txBox="1"/>
          <p:nvPr/>
        </p:nvSpPr>
        <p:spPr>
          <a:xfrm>
            <a:off x="623047" y="1538975"/>
            <a:ext cx="1094590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首先 了解当地主导产业（课外调研）</a:t>
            </a:r>
            <a:endParaRPr lang="en-US" altLang="zh-CN" sz="2000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）农业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en-US" altLang="zh-CN" dirty="0" err="1"/>
              <a:t>i</a:t>
            </a:r>
            <a:r>
              <a:rPr lang="en-US" altLang="zh-CN" dirty="0"/>
              <a:t>. </a:t>
            </a:r>
            <a:r>
              <a:rPr lang="zh-CN" altLang="en-US" dirty="0"/>
              <a:t>特色农业</a:t>
            </a:r>
            <a:r>
              <a:rPr lang="en-US" altLang="zh-CN" dirty="0"/>
              <a:t>——</a:t>
            </a:r>
            <a:r>
              <a:rPr lang="zh-CN" altLang="en-US" dirty="0"/>
              <a:t>与旅游业结合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 走访</a:t>
            </a:r>
            <a:r>
              <a:rPr lang="en-US" altLang="zh-CN" dirty="0"/>
              <a:t>/</a:t>
            </a:r>
            <a:r>
              <a:rPr lang="zh-CN" altLang="en-US" dirty="0"/>
              <a:t>问卷：农户、村委、景点     问卷</a:t>
            </a:r>
            <a:r>
              <a:rPr lang="en-US" altLang="zh-CN" dirty="0"/>
              <a:t>/</a:t>
            </a:r>
            <a:r>
              <a:rPr lang="zh-CN" altLang="en-US" dirty="0"/>
              <a:t>采访：游客、商户、负责人</a:t>
            </a:r>
            <a:endParaRPr lang="en-US" altLang="zh-CN" dirty="0"/>
          </a:p>
          <a:p>
            <a:r>
              <a:rPr lang="en-US" altLang="zh-CN" dirty="0"/>
              <a:t>               </a:t>
            </a:r>
            <a:r>
              <a:rPr lang="zh-CN" altLang="en-US" dirty="0"/>
              <a:t>了解：收入情况、自然环境是否适合、是否可持续发展、政策、就业情况影响、是否影响生活</a:t>
            </a:r>
            <a:endParaRPr lang="en-US" altLang="zh-CN" dirty="0"/>
          </a:p>
          <a:p>
            <a:r>
              <a:rPr lang="en-US" altLang="zh-CN" dirty="0"/>
              <a:t>                          </a:t>
            </a:r>
            <a:r>
              <a:rPr lang="zh-CN" altLang="en-US" dirty="0"/>
              <a:t>客流量、基础设施、交通、宣传措施、是否有相应文创</a:t>
            </a:r>
            <a:r>
              <a:rPr lang="en-US" altLang="zh-CN" dirty="0"/>
              <a:t>IP</a:t>
            </a:r>
            <a:r>
              <a:rPr lang="zh-CN" altLang="en-US" dirty="0"/>
              <a:t>、游客体验、商户收入、景点维护</a:t>
            </a:r>
            <a:endParaRPr lang="en-US" altLang="zh-CN" dirty="0"/>
          </a:p>
          <a:p>
            <a:r>
              <a:rPr lang="en-US" altLang="zh-CN" dirty="0"/>
              <a:t>    ii.</a:t>
            </a:r>
            <a:r>
              <a:rPr lang="zh-CN" altLang="en-US" dirty="0"/>
              <a:t> 普通农业</a:t>
            </a:r>
            <a:r>
              <a:rPr lang="en-US" altLang="zh-CN" dirty="0"/>
              <a:t>——</a:t>
            </a:r>
            <a:r>
              <a:rPr lang="zh-CN" altLang="en-US" dirty="0"/>
              <a:t>不与其他产业结合发展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了解当地目前为什么农业类型（课外调研）</a:t>
            </a:r>
            <a:endParaRPr lang="en-US" altLang="zh-CN" dirty="0"/>
          </a:p>
          <a:p>
            <a:r>
              <a:rPr lang="en-US" altLang="zh-CN" dirty="0"/>
              <a:t>       a.</a:t>
            </a:r>
            <a:r>
              <a:rPr lang="zh-CN" altLang="en-US" dirty="0"/>
              <a:t> 传统小农经济</a:t>
            </a:r>
            <a:endParaRPr lang="en-US" altLang="zh-CN" dirty="0"/>
          </a:p>
          <a:p>
            <a:r>
              <a:rPr lang="en-US" altLang="zh-CN" dirty="0"/>
              <a:t>           </a:t>
            </a:r>
            <a:r>
              <a:rPr lang="zh-CN" altLang="en-US" dirty="0"/>
              <a:t>走访</a:t>
            </a:r>
            <a:r>
              <a:rPr lang="en-US" altLang="zh-CN" dirty="0"/>
              <a:t>/</a:t>
            </a:r>
            <a:r>
              <a:rPr lang="zh-CN" altLang="en-US" dirty="0"/>
              <a:t>问卷：农户、村委、合作社</a:t>
            </a:r>
            <a:endParaRPr lang="en-US" altLang="zh-CN" dirty="0"/>
          </a:p>
          <a:p>
            <a:r>
              <a:rPr lang="en-US" altLang="zh-CN" dirty="0"/>
              <a:t>                  </a:t>
            </a:r>
            <a:r>
              <a:rPr lang="zh-CN" altLang="en-US" dirty="0"/>
              <a:t>了解：产量、收入情况、转型意愿、科技水平、耕地是否适合大规模生产（如耕地破碎？）、劳动力数量及质量、主要经济作物、农业政策</a:t>
            </a:r>
            <a:endParaRPr lang="en-US" altLang="zh-CN" dirty="0"/>
          </a:p>
          <a:p>
            <a:r>
              <a:rPr lang="en-US" altLang="zh-CN" dirty="0"/>
              <a:t>       b. </a:t>
            </a:r>
            <a:r>
              <a:rPr lang="zh-CN" altLang="en-US" dirty="0"/>
              <a:t>规模化生产</a:t>
            </a:r>
            <a:r>
              <a:rPr lang="zh-CN" altLang="en-US" b="1" dirty="0"/>
              <a:t>（若已经较成熟则不建议选择农业作为主课题）</a:t>
            </a:r>
            <a:endParaRPr lang="en-US" altLang="zh-CN" b="1" dirty="0"/>
          </a:p>
          <a:p>
            <a:r>
              <a:rPr lang="en-US" altLang="zh-CN" dirty="0"/>
              <a:t>          </a:t>
            </a:r>
            <a:r>
              <a:rPr lang="zh-CN" altLang="en-US" dirty="0"/>
              <a:t>走访生产基地  采访：负责人、技术人员、劳动者、产业带头人</a:t>
            </a:r>
            <a:endParaRPr lang="en-US" altLang="zh-CN" dirty="0"/>
          </a:p>
          <a:p>
            <a:r>
              <a:rPr lang="en-US" altLang="zh-CN" dirty="0"/>
              <a:t>          </a:t>
            </a:r>
            <a:r>
              <a:rPr lang="zh-CN" altLang="en-US" dirty="0"/>
              <a:t>了解：产量、营收情况、当前技术、主要经济作物、市场、交通、土地租金、政策支持、劳动力数量及质量</a:t>
            </a:r>
          </a:p>
        </p:txBody>
      </p:sp>
    </p:spTree>
    <p:extLst>
      <p:ext uri="{BB962C8B-B14F-4D97-AF65-F5344CB8AC3E}">
        <p14:creationId xmlns:p14="http://schemas.microsoft.com/office/powerpoint/2010/main" val="3178037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8937B7-6701-08BE-6A1D-685D37C87D2E}"/>
              </a:ext>
            </a:extLst>
          </p:cNvPr>
          <p:cNvSpPr txBox="1"/>
          <p:nvPr/>
        </p:nvSpPr>
        <p:spPr>
          <a:xfrm>
            <a:off x="410135" y="1166842"/>
            <a:ext cx="114636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）工业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en-US" altLang="zh-CN" dirty="0" err="1"/>
              <a:t>i</a:t>
            </a:r>
            <a:r>
              <a:rPr lang="en-US" altLang="zh-CN" dirty="0"/>
              <a:t>. </a:t>
            </a:r>
            <a:r>
              <a:rPr lang="zh-CN" altLang="en-US" dirty="0"/>
              <a:t>有特色资源及产业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走访多个企业</a:t>
            </a:r>
            <a:r>
              <a:rPr lang="en-US" altLang="zh-CN" dirty="0"/>
              <a:t>&amp;</a:t>
            </a:r>
            <a:r>
              <a:rPr lang="zh-CN" altLang="en-US" dirty="0"/>
              <a:t>相关部门   访谈企业负责人</a:t>
            </a:r>
            <a:r>
              <a:rPr lang="en-US" altLang="zh-CN" dirty="0"/>
              <a:t>&amp;</a:t>
            </a:r>
            <a:r>
              <a:rPr lang="zh-CN" altLang="en-US" dirty="0"/>
              <a:t>研究员</a:t>
            </a:r>
            <a:endParaRPr lang="en-US" altLang="zh-CN" dirty="0"/>
          </a:p>
          <a:p>
            <a:r>
              <a:rPr lang="en-US" altLang="zh-CN" dirty="0"/>
              <a:t>               </a:t>
            </a:r>
            <a:r>
              <a:rPr lang="zh-CN" altLang="en-US" dirty="0"/>
              <a:t>了解：当地资源状况、营收情况、科技创新、政策及其落实度、市场、交通、产业基础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问卷附近居民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zh-CN" altLang="en-US" dirty="0"/>
              <a:t>了解：对特色资源及产业了解程度、就业情况影响、环境影响、对政策了解度、是否吸引落户</a:t>
            </a:r>
            <a:endParaRPr lang="en-US" altLang="zh-CN" dirty="0"/>
          </a:p>
          <a:p>
            <a:r>
              <a:rPr lang="en-US" altLang="zh-CN" dirty="0"/>
              <a:t>    ii. </a:t>
            </a:r>
            <a:r>
              <a:rPr lang="zh-CN" altLang="en-US" dirty="0"/>
              <a:t>没啥特色</a:t>
            </a:r>
            <a:r>
              <a:rPr lang="zh-CN" altLang="en-US" b="1" dirty="0"/>
              <a:t>（则不建议选择工业作为主课题）</a:t>
            </a:r>
            <a:endParaRPr lang="en-US" altLang="zh-CN" b="1" dirty="0"/>
          </a:p>
          <a:p>
            <a:r>
              <a:rPr lang="en-US" altLang="zh-CN" b="1" dirty="0"/>
              <a:t>       </a:t>
            </a:r>
            <a:r>
              <a:rPr lang="zh-CN" altLang="en-US" dirty="0"/>
              <a:t>选择当地发展较好的产业：可以关注集聚</a:t>
            </a:r>
            <a:r>
              <a:rPr lang="en-US" altLang="zh-CN" dirty="0"/>
              <a:t>/</a:t>
            </a:r>
            <a:r>
              <a:rPr lang="zh-CN" altLang="en-US" dirty="0"/>
              <a:t>竞争较多的产业</a:t>
            </a:r>
            <a:endParaRPr lang="en-US" altLang="zh-CN" dirty="0"/>
          </a:p>
          <a:p>
            <a:r>
              <a:rPr lang="en-US" altLang="zh-CN" b="1" dirty="0"/>
              <a:t>       </a:t>
            </a:r>
            <a:r>
              <a:rPr lang="zh-CN" altLang="en-US" dirty="0"/>
              <a:t>具体调查流程与上述差不多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）服务业（主要为旅游业）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结合特色农业（见农业部分）</a:t>
            </a:r>
            <a:r>
              <a:rPr lang="en-US" altLang="zh-CN" dirty="0"/>
              <a:t>/</a:t>
            </a:r>
            <a:r>
              <a:rPr lang="zh-CN" altLang="en-US" dirty="0"/>
              <a:t>红色文化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/>
              <a:t>景点实地调研：负责人、商户、游客、附近居民（问卷）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zh-CN" altLang="en-US" dirty="0"/>
              <a:t>了解：客流量、营收情况、基础设施、交通、政策支持、游客体验、文创</a:t>
            </a:r>
            <a:r>
              <a:rPr lang="en-US" altLang="zh-CN" dirty="0"/>
              <a:t>IP</a:t>
            </a:r>
          </a:p>
          <a:p>
            <a:r>
              <a:rPr lang="en-US" altLang="zh-CN" dirty="0"/>
              <a:t>                       </a:t>
            </a:r>
            <a:r>
              <a:rPr lang="zh-CN" altLang="en-US" dirty="0"/>
              <a:t>是否对当地居民就业产生影响、是否影响居民正常生活</a:t>
            </a:r>
          </a:p>
        </p:txBody>
      </p:sp>
    </p:spTree>
    <p:extLst>
      <p:ext uri="{BB962C8B-B14F-4D97-AF65-F5344CB8AC3E}">
        <p14:creationId xmlns:p14="http://schemas.microsoft.com/office/powerpoint/2010/main" val="400655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415</Words>
  <Application>Microsoft Office PowerPoint</Application>
  <PresentationFormat>宽屏</PresentationFormat>
  <Paragraphs>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Suyang Shi</dc:creator>
  <cp:lastModifiedBy>Suyang Shi</cp:lastModifiedBy>
  <cp:revision>2</cp:revision>
  <dcterms:created xsi:type="dcterms:W3CDTF">2026-06-19T05:43:47Z</dcterms:created>
  <dcterms:modified xsi:type="dcterms:W3CDTF">2026-06-19T06:22:47Z</dcterms:modified>
</cp:coreProperties>
</file>