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8" r:id="rId4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本次社会实践的核心主题是“红色文化赋能下延安文旅产业的创新路径与数字化转型”。我们构建了“传承载体、体验升级、产业融合”的三维研究框架。在具体工作中，我们通过实地走访、深度访谈、问卷调查和文献梳理四种方式，全面深入地了解了延安红色文旅的现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研究的科学性和全面性，我们采用了多方法交叉研究模式。在为期10天的实地调研中，我们通过实地调查法，直观感受了延安的文旅现状；通过深度访谈法，与48位不同背景的人士进行了交流；通过问卷调查法，收集了329份有效样本的量化数据；同时，我们还结合文献资料分析，为我们的研究提供了坚实的理论支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对问卷数据的分析，我们得出了一些关键结论。首先，延安作为“革命圣地”的形象深入人心，绝大多数游客是为了学习红色文化而来。其次，游客获取信息的渠道较为传统，新媒体的潜力尚未被充分挖掘。令人振奋的是，游客对数字化体验的接受度非常高，尤其是年轻群体。然而，交通不便和线上传播意愿低是当前亟待解决的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量化数据，我们还通过一线访谈发现了四个主要问题。一是内容呈现方式同质化，缺乏互动性和吸引力。二是新媒体宣传力度不够，很多优质资源藏在深闺人未识。三是交通、标识等基础设施服务有待完善。四是产业链条单一，红色文化的价值未能被充分挖掘和延伸。这些问题共同制约了延安文旅产业的进一步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问题，我们提出了一套数字化转型方案。首先，在内容上，我们建议打造“一址一品”，让每个旧址都有自己独特的故事和体验。其次，在形式上，应积极引入VR、AR等前沿数字技术，让历史“活”起来。最后，在业态上，要大力推广“红色+”模式，推动红色文化与其他产业深度融合，创造更多消费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4" Type="http://schemas.openxmlformats.org/officeDocument/2006/relationships/notesSlide" Target="../notesSlides/notesSlide1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tags" Target="../tags/tag3.xml"/><Relationship Id="rId29" Type="http://schemas.openxmlformats.org/officeDocument/2006/relationships/image" Target="../media/image8.svg"/><Relationship Id="rId28" Type="http://schemas.openxmlformats.org/officeDocument/2006/relationships/image" Target="../media/image7.png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6.svg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4" Type="http://schemas.openxmlformats.org/officeDocument/2006/relationships/notesSlide" Target="../notesSlides/notesSlide2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48.xml"/><Relationship Id="rId31" Type="http://schemas.openxmlformats.org/officeDocument/2006/relationships/tags" Target="../tags/tag47.xml"/><Relationship Id="rId30" Type="http://schemas.openxmlformats.org/officeDocument/2006/relationships/tags" Target="../tags/tag46.xml"/><Relationship Id="rId3" Type="http://schemas.openxmlformats.org/officeDocument/2006/relationships/tags" Target="../tags/tag27.xml"/><Relationship Id="rId29" Type="http://schemas.openxmlformats.org/officeDocument/2006/relationships/image" Target="../media/image8.svg"/><Relationship Id="rId28" Type="http://schemas.openxmlformats.org/officeDocument/2006/relationships/image" Target="../media/image7.png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tags" Target="../tags/tag26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做了什么？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805180" y="1158875"/>
            <a:ext cx="52705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805180" y="1158875"/>
            <a:ext cx="508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680" y="1349375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503680" y="1311275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实地走访：全域红色文旅资源踏勘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8929">
            <a:off x="995688" y="1787525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995680" y="1920875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全覆盖考察鲁迅艺术文学院旧址、延安革命纪念馆、枣园、杨家岭等核心红色点位，系统调研数字化展示技术应用、景区基础设施配套、业态空间布局及客流运营的实际现状，掌握一手资源信息。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6329680" y="1158875"/>
            <a:ext cx="52705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329680" y="1158875"/>
            <a:ext cx="508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0180" y="1349375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7028180" y="1311275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深度访谈：多类利益相关者对话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5"/>
            </p:custDataLst>
          </p:nvPr>
        </p:nvCxnSpPr>
        <p:spPr>
          <a:xfrm rot="-8929">
            <a:off x="6520188" y="1787525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6520180" y="1920875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分层访谈讲解员、党史学者、景区环卫工人、周边商贩、游客及文旅管理部门工作人员，收集不同利益相关者的真实反馈，挖掘红色文旅发展过程中的现实痛点、服务短板与多元需求。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805180" y="3063875"/>
            <a:ext cx="52705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792480" y="3063875"/>
            <a:ext cx="508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5680" y="3254375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1503680" y="3216275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数据采集：全域游客问卷调研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3"/>
            </p:custDataLst>
          </p:nvPr>
        </p:nvCxnSpPr>
        <p:spPr>
          <a:xfrm rot="-8929">
            <a:off x="995688" y="3692525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995680" y="3825875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面向不同年龄、地域、消费层次的游客发放结构化问卷，量化采集游客对红色文化的认知印象、游览满意度、体验偏好及文旅消费意愿，为转型策略提供科学的量化数据支撑。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5"/>
            </p:custDataLst>
          </p:nvPr>
        </p:nvSpPr>
        <p:spPr>
          <a:xfrm>
            <a:off x="6329680" y="3063875"/>
            <a:ext cx="52705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6"/>
            </p:custDataLst>
          </p:nvPr>
        </p:nvSpPr>
        <p:spPr>
          <a:xfrm>
            <a:off x="6329680" y="3063875"/>
            <a:ext cx="50800" cy="1587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20180" y="3254375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0"/>
            </p:custDataLst>
          </p:nvPr>
        </p:nvSpPr>
        <p:spPr>
          <a:xfrm>
            <a:off x="7028180" y="3216275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理论支撑：政策与文献资料梳理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31"/>
            </p:custDataLst>
          </p:nvPr>
        </p:nvCxnSpPr>
        <p:spPr>
          <a:xfrm rot="-8929">
            <a:off x="6520188" y="3692525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>
            <p:custDataLst>
              <p:tags r:id="rId32"/>
            </p:custDataLst>
          </p:nvPr>
        </p:nvSpPr>
        <p:spPr>
          <a:xfrm>
            <a:off x="6520180" y="3825875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系统查阅延安红色文化保护规划、文旅产业发展政策、年度统计公报及相关学术论文，梳理行业发展脉络、政策导向与前沿理论成果，为研究构建坚实的理论与政策基础。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怎么做的？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99465" y="16256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99465" y="1625600"/>
            <a:ext cx="5207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965" y="18161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497965" y="177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实地调查法：全域踏勘与沉浸体验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9046">
            <a:off x="989973" y="23177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989965" y="24511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全程踏勘红色旧址、纪念馆、商业街区及南泥湾农田，现场记录数字化设备运维现状与景区配套短板；亲身体验数字导览、红色演艺及文创产品，获取一手感官与功能反馈，直观掌握文旅融合发展的实际情况。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6260465" y="16256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260465" y="1625600"/>
            <a:ext cx="5207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50965" y="18161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6958965" y="177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深度访谈法：分层对话与多维洞察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5"/>
            </p:custDataLst>
          </p:nvPr>
        </p:nvCxnSpPr>
        <p:spPr>
          <a:xfrm rot="-9046">
            <a:off x="6450973" y="23177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6450965" y="24511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累计访谈48人，覆盖文旅学者、讲解员、基层从业者、商户、游客及场所运营人员四大核心群体。通过半结构化对话，挖掘不同视角下对红色文旅数字化建设的认知、运营痛点与优化建议，形成质性分析基础。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799465" y="37846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799465" y="3784600"/>
            <a:ext cx="5207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89965" y="39751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1497965" y="3937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问卷调查法：量化数据与趋势分析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3"/>
            </p:custDataLst>
          </p:nvPr>
        </p:nvCxnSpPr>
        <p:spPr>
          <a:xfrm rot="-9046">
            <a:off x="989973" y="44767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989965" y="46101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回收有效问卷329份，围绕游客印象、文化获取渠道、满意度、数字化消费意愿、出行方式等8类核心维度设计。通过SPSS量化统计分析，提炼红色文旅消费的共性特征、需求倾向与市场潜力。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5"/>
            </p:custDataLst>
          </p:nvPr>
        </p:nvSpPr>
        <p:spPr>
          <a:xfrm>
            <a:off x="6260465" y="37846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6"/>
            </p:custDataLst>
          </p:nvPr>
        </p:nvSpPr>
        <p:spPr>
          <a:xfrm>
            <a:off x="6260465" y="3784600"/>
            <a:ext cx="5207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50965" y="39751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0"/>
            </p:custDataLst>
          </p:nvPr>
        </p:nvSpPr>
        <p:spPr>
          <a:xfrm>
            <a:off x="6958965" y="3937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文献资料分析法：理论锚点与案例对标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31"/>
            </p:custDataLst>
          </p:nvPr>
        </p:nvCxnSpPr>
        <p:spPr>
          <a:xfrm rot="-9046">
            <a:off x="6450973" y="44767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>
            <p:custDataLst>
              <p:tags r:id="rId32"/>
            </p:custDataLst>
          </p:nvPr>
        </p:nvSpPr>
        <p:spPr>
          <a:xfrm>
            <a:off x="6450965" y="46101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系统梳理国家政策文件、行业统计年报与核心学术期刊，构建红色文旅数字化的理论分析框架；对标全国同类成功案例的发展路径，为本研究的策略提出提供扎实的理论支撑与实践参考依据。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看到了什么？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核心印象：“革命圣地”深入人心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调研显示，</a:t>
            </a: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92.09%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的游客对延安的第一印象固化为“革命圣地”，红色文化地标成为认知延安的核心符号。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77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905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出行目的：以红色文化学习为主导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540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超七成（</a:t>
            </a: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71.43%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）游客来延的核心目的是“学习红色文化”，兼具研学、瞻仰与感悟需求，红色教育属性突出。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92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619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信息渠道：传统渠道为主，新媒体缺位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4121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2545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游客了解红色文化的主要途径为学校教育（85.71%）与影视作品（71.43%），而新媒体宣传的触达率与影响力仍有较大提升空间。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3492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3619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数字接受度：沉浸式体验受年轻群体热捧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540508" y="4121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42545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66.7%愿购数字纪念品，沉浸式数字体验支持率达</a:t>
            </a: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89.97%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，其中青年群体支持率更高达96.55%，数字化转型潜力巨大。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207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20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334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出行痛点：交通配套与服务体验待优化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167">
            <a:off x="10160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1016000" y="58674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公交覆盖范围不足、出租车拼车乱象、景区停车难等问题，成为影响游客游览体验的核心阻碍因素。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86500" y="5207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86500" y="520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40500" y="5334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传播意愿：线上自发传播动力不足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5405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58674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</a:t>
            </a: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35.7%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的游客表示一定会对外分享经历，缺乏优质传播素材与分享场景，导致线上口碑传播意愿偏低。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一线现实问题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425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内容同质化，互动性不足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以传统“展览+讲解”模式为主，形式固化缺乏新意；大量多媒体设备因内容陈旧、操作复杂或维护缺失而长期闲置，无法有效调动观众的参与热情与情感共鸣。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905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057400"/>
            <a:ext cx="425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新媒体宣传失衡，品牌辨识度弱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794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小众场馆线上信息分散混乱，预约功能常失效；缺乏统一、有力的品牌形象塑造与传播策略，优质红色文旅资源“养在深闺人未识”，难以形成市场吸引力。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470400"/>
            <a:ext cx="425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基础设施服务存在明显漏洞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20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交通接驳不便、讲解收费标准不透明、景区导视标识模糊不清，且无障碍设施与便民服务配套严重不足，直接影响游客的游览体验与消费意愿。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31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4470400"/>
            <a:ext cx="425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文旅产业链单一，融合度浅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540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20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红色文化与民俗、农业、数字产业融合不够深入，产品业态单一；大量已修复的旧址未能结合现代需求活化利用，造成文旅资源闲置与价值浪费。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如何行动？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114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内容创新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打造“一址一品”差异化叙事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深挖抗大、鲁艺、枣园等旧址的独特内涵，设计专属沉浸式主题体验；开发分众化、多版本的智能讲解系统，满足不同年龄、背景游客的认知需求。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49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23114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形式创新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42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落地前沿数字技术应用场景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444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引入VR大空间、数字孪生、AR实景导览等技术还原历史现场；升级红色实景演艺，增强观众的互动性与参与感，让红色历史可感可知、鲜活生动。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C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23114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业态融合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342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推广“红色+”多元发展模式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444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深化“红色+民俗+美食+研学”的多元业态融合，以南泥湾农耕体验、1938街区为范本延伸产业链，丰富消费场景，有效延长游客停留时长。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6070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通过内容差异化、形式科技化、业态多元化的协同推进，构建全方位、沉浸式的红色文化数字化体验体系，实现社会效益与经济效益的统一。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3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4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5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6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7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8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9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0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1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2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3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4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5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6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7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8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19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0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1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2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3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4.xml><?xml version="1.0" encoding="utf-8"?>
<p:tagLst xmlns:p="http://schemas.openxmlformats.org/presentationml/2006/main">
  <p:tag name="KSO_WM_DIAGRAM_VIRTUALLY_FRAME" val="{&quot;height&quot;:275,&quot;left&quot;:62.4,&quot;top&quot;:91.25,&quot;width&quot;:851}"/>
</p:tagLst>
</file>

<file path=ppt/tags/tag25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26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27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28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29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0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1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2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3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4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5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6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7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8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39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0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1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2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3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4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5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6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7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ags/tag48.xml><?xml version="1.0" encoding="utf-8"?>
<p:tagLst xmlns:p="http://schemas.openxmlformats.org/presentationml/2006/main">
  <p:tag name="KSO_WM_DIAGRAM_VIRTUALLY_FRAME" val="{&quot;height&quot;:315,&quot;left&quot;:62.95,&quot;top&quot;:128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WPS 演示</Application>
  <PresentationFormat/>
  <Paragraphs>102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杨金浩</cp:lastModifiedBy>
  <cp:revision>3</cp:revision>
  <dcterms:created xsi:type="dcterms:W3CDTF">2026-06-20T07:41:00Z</dcterms:created>
  <dcterms:modified xsi:type="dcterms:W3CDTF">2026-06-23T10:48:21Z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{"Label":"1","ContentProducer":"001191110102MACQD9K64010000","ProduceID":"7653378517308836820","ReservedCode1":"","ContentPropagator":"","PropagateID":"","ReservedCode2":""}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3C3EFA1156834EA9A9974865831E132E_12</vt:lpwstr>
  </property>
</Properties>
</file>